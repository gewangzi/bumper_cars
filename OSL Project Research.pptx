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  <p:sldId id="270" r:id="rId12"/>
    <p:sldId id="268" r:id="rId13"/>
    <p:sldId id="271" r:id="rId14"/>
    <p:sldId id="272" r:id="rId15"/>
    <p:sldId id="273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25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文本_4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4" hasCustomPrompt="1"/>
            <p:custDataLst>
              <p:tags r:id="rId4"/>
            </p:custDataLst>
          </p:nvPr>
        </p:nvSpPr>
        <p:spPr>
          <a:xfrm>
            <a:off x="6096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34290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34290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37338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62484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2484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5532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90678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90678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372600" y="2946400"/>
            <a:ext cx="19050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image" Target="../media/image1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tags" Target="../tags/tag10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tags" Target="../tags/tag106.xml"/><Relationship Id="rId3" Type="http://schemas.openxmlformats.org/officeDocument/2006/relationships/image" Target="../media/image2.png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OSL Project Research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Overall Summary</a:t>
            </a:r>
            <a:endParaRPr lang="en-US" altLang="zh-CN"/>
          </a:p>
        </p:txBody>
      </p:sp>
      <p:pic>
        <p:nvPicPr>
          <p:cNvPr id="6" name="内容占位符 5"/>
          <p:cNvPicPr>
            <a:picLocks noChangeAspect="1"/>
          </p:cNvPicPr>
          <p:nvPr>
            <p:ph sz="half"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864350" y="55880"/>
            <a:ext cx="4613910" cy="6671310"/>
          </a:xfrm>
          <a:prstGeom prst="rect">
            <a:avLst/>
          </a:prstGeom>
        </p:spPr>
      </p:pic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17275" y="1617405"/>
            <a:ext cx="5176800" cy="4748400"/>
          </a:xfrm>
        </p:spPr>
        <p:txBody>
          <a:bodyPr>
            <a:normAutofit lnSpcReduction="10000"/>
          </a:bodyPr>
          <a:p>
            <a:r>
              <a:rPr lang="en-US" altLang="zh-CN"/>
              <a:t>Currently, the research gap mainly lies in senarios like </a:t>
            </a:r>
            <a:r>
              <a:rPr lang="en-US" altLang="zh-CN">
                <a:highlight>
                  <a:srgbClr val="FF0000"/>
                </a:highlight>
              </a:rPr>
              <a:t>multiple oder source</a:t>
            </a:r>
            <a:r>
              <a:rPr lang="en-US" altLang="zh-CN"/>
              <a:t> and </a:t>
            </a:r>
            <a:r>
              <a:rPr lang="en-US" altLang="zh-CN">
                <a:highlight>
                  <a:srgbClr val="FF0000"/>
                </a:highlight>
              </a:rPr>
              <a:t>3D-mapping</a:t>
            </a:r>
            <a:r>
              <a:rPr lang="en-US" altLang="zh-CN"/>
              <a:t>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Hardware: active sampling methods, drones, etc</a:t>
            </a:r>
            <a:endParaRPr lang="en-US" altLang="zh-CN"/>
          </a:p>
          <a:p>
            <a:r>
              <a:rPr lang="en-US" altLang="zh-CN"/>
              <a:t>Software: bio-inspired solutions, extremum seeking control, mutimodule fusion, meta-database, etc.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The key is to improve rebostness, accuracy, and interpretability.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Summary of current attempts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6 recent essays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Robotic Improvements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i="1"/>
              <a:t>Bio-inspired strategy against olfactory sensory deficiency in OSL</a:t>
            </a:r>
            <a:endParaRPr lang="en-US" altLang="zh-CN" i="1"/>
          </a:p>
          <a:p>
            <a:r>
              <a:rPr lang="en-US" altLang="zh-CN">
                <a:highlight>
                  <a:srgbClr val="FF0000"/>
                </a:highlight>
              </a:rPr>
              <a:t>bio-inspired algorithm</a:t>
            </a:r>
            <a:endParaRPr lang="en-US" altLang="zh-CN">
              <a:highlight>
                <a:srgbClr val="FF0000"/>
              </a:highlight>
            </a:endParaRPr>
          </a:p>
          <a:p>
            <a:r>
              <a:rPr lang="en-US" altLang="zh-CN">
                <a:highlight>
                  <a:srgbClr val="FF0000"/>
                </a:highlight>
              </a:rPr>
              <a:t>solving hardware failure senarios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CDMI algorithm (POD+PDF sampling-&gt;controling under sensor impairment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future outlook: 3D, “switch” strategy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zh-CN" i="1"/>
              <a:t>Sniffbot</a:t>
            </a:r>
            <a:endParaRPr lang="en-US" altLang="zh-CN" i="1"/>
          </a:p>
          <a:p>
            <a:r>
              <a:rPr lang="en-US" altLang="zh-CN">
                <a:highlight>
                  <a:srgbClr val="FF0000"/>
                </a:highlight>
              </a:rPr>
              <a:t>active-sampling</a:t>
            </a:r>
            <a:endParaRPr lang="en-US" altLang="zh-CN">
              <a:highlight>
                <a:srgbClr val="FF0000"/>
              </a:highlight>
            </a:endParaRPr>
          </a:p>
          <a:p>
            <a:endParaRPr lang="en-US" altLang="zh-CN"/>
          </a:p>
          <a:p>
            <a:r>
              <a:rPr lang="en-US" altLang="zh-CN"/>
              <a:t>active sampling: air pump+solenoid valve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Trident algorithm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future outlook: multiple source. multiple robots, memery mechanism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Algorithm Improvements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en-US" altLang="zh-CN" i="1"/>
              <a:t>LLM</a:t>
            </a:r>
            <a:endParaRPr lang="en-US" altLang="zh-CN" i="1"/>
          </a:p>
          <a:p>
            <a:r>
              <a:rPr lang="en-US" altLang="zh-CN">
                <a:highlight>
                  <a:srgbClr val="FF0000"/>
                </a:highlight>
              </a:rPr>
              <a:t>rebostness</a:t>
            </a:r>
            <a:r>
              <a:rPr lang="en-US" altLang="zh-CN"/>
              <a:t> to exvironment changes</a:t>
            </a:r>
            <a:endParaRPr lang="en-US" altLang="zh-CN"/>
          </a:p>
          <a:p>
            <a:r>
              <a:rPr lang="en-US" altLang="zh-CN">
                <a:highlight>
                  <a:srgbClr val="FF0000"/>
                </a:highlight>
              </a:rPr>
              <a:t>explanations</a:t>
            </a:r>
            <a:r>
              <a:rPr lang="en-US" altLang="zh-CN"/>
              <a:t> on decisioin making</a:t>
            </a:r>
            <a:endParaRPr lang="en-US" altLang="zh-CN" i="1"/>
          </a:p>
          <a:p>
            <a:endParaRPr lang="en-US" altLang="zh-CN" i="1"/>
          </a:p>
          <a:p>
            <a:r>
              <a:rPr lang="en-US" altLang="zh-CN"/>
              <a:t>environment module+reasoning module+memory module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reasoning according to similar cases in the memory and the detection of environment.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future outlook: dynamic memory base, multiple source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zh-CN" i="1"/>
              <a:t>Noise enhances localization</a:t>
            </a:r>
            <a:endParaRPr lang="en-US" altLang="zh-CN" i="1"/>
          </a:p>
          <a:p>
            <a:r>
              <a:rPr lang="en-US" altLang="zh-CN">
                <a:highlight>
                  <a:srgbClr val="FF0000"/>
                </a:highlight>
              </a:rPr>
              <a:t>a counterintuitive assumption</a:t>
            </a:r>
            <a:endParaRPr lang="en-US" altLang="zh-CN" i="1"/>
          </a:p>
          <a:p>
            <a:endParaRPr lang="en-US" altLang="zh-CN" i="1"/>
          </a:p>
          <a:p>
            <a:r>
              <a:rPr lang="en-US" altLang="zh-CN"/>
              <a:t>theoritical explanations</a:t>
            </a:r>
            <a:endParaRPr lang="en-US" altLang="zh-CN"/>
          </a:p>
          <a:p>
            <a:r>
              <a:rPr lang="en-US" altLang="zh-CN"/>
              <a:t>DNS simulating</a:t>
            </a:r>
            <a:endParaRPr lang="en-US" altLang="zh-CN"/>
          </a:p>
          <a:p>
            <a:r>
              <a:rPr lang="en-US" altLang="zh-CN"/>
              <a:t>adding noise on location perception-&gt;better OSL outcome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future outlook: real time validation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Algorithm Improments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 i="1"/>
              <a:t>Multi-agent reinforcement learning</a:t>
            </a:r>
            <a:endParaRPr lang="en-US" altLang="zh-CN" i="1"/>
          </a:p>
          <a:p>
            <a:r>
              <a:rPr lang="en-US" altLang="zh-CN">
                <a:highlight>
                  <a:srgbClr val="FF0000"/>
                </a:highlight>
              </a:rPr>
              <a:t>multi-source+multi-robot</a:t>
            </a:r>
            <a:endParaRPr lang="en-US" altLang="zh-CN" i="1"/>
          </a:p>
          <a:p>
            <a:endParaRPr lang="en-US" altLang="zh-CN" i="1"/>
          </a:p>
          <a:p>
            <a:r>
              <a:rPr lang="en-US" altLang="zh-CN">
                <a:sym typeface="+mn-ea"/>
              </a:rPr>
              <a:t>Action-Specific Double Deep Recurrent Q-Network</a:t>
            </a:r>
            <a:endParaRPr lang="en-US" altLang="zh-CN">
              <a:sym typeface="+mn-ea"/>
            </a:endParaRPr>
          </a:p>
          <a:p>
            <a:r>
              <a:rPr lang="en-US" altLang="zh-CN"/>
              <a:t>last action+state+teammate’s states-&gt;LSTM-&gt;Q-learning outcome</a:t>
            </a:r>
            <a:endParaRPr lang="en-US" altLang="zh-CN"/>
          </a:p>
          <a:p>
            <a:r>
              <a:rPr lang="en-US" altLang="zh-CN"/>
              <a:t>training-&gt;hyperparameters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future outlook: real world validation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zh-CN" i="1"/>
              <a:t>Deep Reinforcement Learning</a:t>
            </a:r>
            <a:endParaRPr lang="en-US" altLang="zh-CN" i="1"/>
          </a:p>
          <a:p>
            <a:endParaRPr lang="en-US" altLang="zh-CN" i="1"/>
          </a:p>
          <a:p>
            <a:r>
              <a:rPr lang="en-US" altLang="zh-CN"/>
              <a:t>open AI Gym simulation</a:t>
            </a:r>
            <a:endParaRPr lang="en-US" altLang="zh-CN"/>
          </a:p>
          <a:p>
            <a:r>
              <a:rPr lang="en-US" altLang="zh-CN"/>
              <a:t>PPO deep learning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future outlook: multiple source, real world validation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Future Rearch Plan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Reaearch Aim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Exploration and development of an algorithm on multi-source backgournds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Main challenges: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(1) Identification of individual sources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(2) Avoidance of local optima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(3) Cooperation and communication between swarm robots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Major References</a:t>
            </a: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sz="half"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72110" y="1466850"/>
            <a:ext cx="5858510" cy="2411730"/>
          </a:xfrm>
          <a:prstGeom prst="rect">
            <a:avLst/>
          </a:prstGeom>
        </p:spPr>
      </p:pic>
      <p:pic>
        <p:nvPicPr>
          <p:cNvPr id="6" name="内容占位符 5"/>
          <p:cNvPicPr>
            <a:picLocks noChangeAspect="1"/>
          </p:cNvPicPr>
          <p:nvPr>
            <p:ph sz="half" idx="2"/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2110" y="3959860"/>
            <a:ext cx="5857875" cy="26422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0" y="1927225"/>
            <a:ext cx="6022340" cy="336740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Main References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ym typeface="+mn-ea"/>
              </a:rPr>
              <a:t>I-SSO algorithm: </a:t>
            </a:r>
            <a:endParaRPr lang="en-US" altLang="zh-CN"/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-rotation movement-&gt;exploration method</a:t>
            </a:r>
            <a:endParaRPr lang="en-US" altLang="zh-CN"/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-variance triggered escape-&gt;avoid local optimal</a:t>
            </a:r>
            <a:endParaRPr lang="en-US" altLang="zh-CN"/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-swarm best-&gt;information communication</a:t>
            </a:r>
            <a:endParaRPr lang="en-US" altLang="zh-CN"/>
          </a:p>
          <a:p>
            <a:pPr indent="0">
              <a:buFont typeface="Wingdings" panose="05000000000000000000" charset="0"/>
              <a:buNone/>
            </a:pPr>
            <a:endParaRPr lang="en-US" altLang="zh-CN"/>
          </a:p>
          <a:p>
            <a:pPr marL="285750" lvl="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ADDRQN:</a:t>
            </a: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-deep Q-learning</a:t>
            </a: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-state+action+memory-&gt;learning method, robustness to envieonment</a:t>
            </a: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endParaRPr lang="en-US" altLang="zh-CN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285750" lvl="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DAIS: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-dividing space according to Voronoi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-predict according to Gaussian process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285750" lvl="0" indent="-285750">
              <a:buFont typeface="Wingdings" panose="05000000000000000000" charset="0"/>
              <a:buChar char="l"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285750" lvl="0" indent="-285750">
              <a:buFont typeface="Wingdings" panose="05000000000000000000" charset="0"/>
              <a:buChar char="l"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A possible conbination:</a:t>
            </a: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ADDRQN learning method+I-SSO(escape+rotation)</a:t>
            </a: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-replacing greedy exploration with rotation</a:t>
            </a:r>
            <a:endParaRPr lang="en-US" altLang="zh-CN">
              <a:solidFill>
                <a:schemeClr val="tx1"/>
              </a:solidFill>
            </a:endParaRPr>
          </a:p>
          <a:p>
            <a:pPr lvl="0" indent="0">
              <a:buFont typeface="Wingdings" panose="05000000000000000000" charset="0"/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-inviting variance triggered escape</a:t>
            </a:r>
            <a:endParaRPr lang="en-US" altLang="zh-CN">
              <a:solidFill>
                <a:schemeClr val="tx1"/>
              </a:solidFill>
            </a:endParaRPr>
          </a:p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Research Plan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Reproducing the algorithms on multiple source OSL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Comparing the performance (on real robots?)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Seek possible future advancements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Research Stage I- reproducing algorithms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I-SSO (matlab/python)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-use CFD to produce simulation environment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-robot defining and movement(forward/rotation)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-swarm communication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variance triggered escape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r>
              <a:rPr lang="en-US" altLang="zh-CN"/>
              <a:t>DIAS (python+ROS simulation)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-Voronoi division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-GP regression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-identifying potential source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-controler(state machaine)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-Regodic Control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-MPC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-communication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Research Stage I- reproducing algorithms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ym typeface="+mn-ea"/>
              </a:rPr>
              <a:t>ADDRQN: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仿真环境搭建：高斯羽流模型</a:t>
            </a:r>
            <a:r>
              <a:rPr lang="en-US" altLang="zh-CN">
                <a:sym typeface="+mn-ea"/>
              </a:rPr>
              <a:t>+UAV</a:t>
            </a:r>
            <a:r>
              <a:rPr lang="zh-CN" altLang="en-US">
                <a:sym typeface="+mn-ea"/>
              </a:rPr>
              <a:t>运动学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设计稀疏奖励函数</a:t>
            </a:r>
            <a:endParaRPr lang="zh-CN" altLang="en-US"/>
          </a:p>
          <a:p>
            <a:r>
              <a:rPr lang="en-US" altLang="zh-CN">
                <a:sym typeface="+mn-ea"/>
              </a:rPr>
              <a:t>ADDRQN</a:t>
            </a:r>
            <a:r>
              <a:rPr lang="zh-CN" altLang="en-US">
                <a:sym typeface="+mn-ea"/>
              </a:rPr>
              <a:t>网络：（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）三个</a:t>
            </a:r>
            <a:r>
              <a:rPr lang="en-US" altLang="zh-CN">
                <a:sym typeface="+mn-ea"/>
              </a:rPr>
              <a:t>MLP</a:t>
            </a:r>
            <a:r>
              <a:rPr lang="zh-CN" altLang="en-US">
                <a:sym typeface="+mn-ea"/>
              </a:rPr>
              <a:t>（当前观测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动作编码</a:t>
            </a:r>
            <a:r>
              <a:rPr lang="en-US" altLang="zh-CN">
                <a:sym typeface="+mn-ea"/>
              </a:rPr>
              <a:t>/Q</a:t>
            </a:r>
            <a:r>
              <a:rPr lang="zh-CN" altLang="en-US">
                <a:sym typeface="+mn-ea"/>
              </a:rPr>
              <a:t>值输出层）；（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GRU</a:t>
            </a:r>
            <a:r>
              <a:rPr lang="zh-CN" altLang="en-US">
                <a:sym typeface="+mn-ea"/>
              </a:rPr>
              <a:t>的队友编码；（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GRU</a:t>
            </a:r>
            <a:r>
              <a:rPr lang="zh-CN" altLang="en-US">
                <a:sym typeface="+mn-ea"/>
              </a:rPr>
              <a:t>或者</a:t>
            </a:r>
            <a:r>
              <a:rPr lang="en-US" altLang="zh-CN">
                <a:sym typeface="+mn-ea"/>
              </a:rPr>
              <a:t>LSTM</a:t>
            </a:r>
            <a:r>
              <a:rPr lang="zh-CN" altLang="en-US">
                <a:sym typeface="+mn-ea"/>
              </a:rPr>
              <a:t>的时许聚合器；（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）将上述子系统聚合</a:t>
            </a:r>
            <a:endParaRPr lang="zh-CN" altLang="en-US"/>
          </a:p>
          <a:p>
            <a:r>
              <a:rPr lang="zh-CN" altLang="en-US">
                <a:sym typeface="+mn-ea"/>
              </a:rPr>
              <a:t>训练框架搭建：（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）多桶回放缓冲；（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）随机化训练；（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ε-greedy</a:t>
            </a:r>
            <a:r>
              <a:rPr lang="zh-CN" altLang="en-US">
                <a:sym typeface="+mn-ea"/>
              </a:rPr>
              <a:t>探索；（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）整合上述训练搭建训练主循环</a:t>
            </a:r>
            <a:endParaRPr lang="zh-CN" altLang="en-US"/>
          </a:p>
          <a:p>
            <a:r>
              <a:rPr lang="zh-CN" altLang="en-US">
                <a:sym typeface="+mn-ea"/>
              </a:rPr>
              <a:t>复现三个评测实验</a:t>
            </a:r>
            <a:endParaRPr lang="zh-CN" altLang="en-US"/>
          </a:p>
          <a:p>
            <a:r>
              <a:rPr lang="zh-CN" altLang="en-US">
                <a:sym typeface="+mn-ea"/>
              </a:rPr>
              <a:t>搭建真实场景进行模拟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Research Stage II- combination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I-SSO </a:t>
            </a:r>
            <a:r>
              <a:rPr lang="en-US" altLang="zh-CN">
                <a:sym typeface="+mn-ea"/>
              </a:rPr>
              <a:t>variance triggered escape+DIAS: potential of “marking interference source”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en-US" altLang="zh-CN"/>
              <a:t>replacing MPC (in DIAS) with ADDRQN: combining RL and GP, lowering training cost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Voronoi division+ADDRQN: divide the task+ allowing UAV failure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feb2884d6aaf62ab65305f9b32a7d258af57879"/>
  <p:tag name="KSO_WM_NEWLAYOUT_ID" val="slide_6d9c242c8c9b5533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dk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p="http://schemas.openxmlformats.org/presentationml/2006/main">
  <p:tag name="resource_record_key" val="{&quot;65&quot;:[20205081],&quot;71&quot;:[76235680075]}"/>
</p:tagLst>
</file>

<file path=ppt/theme/theme1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1B2945"/>
      </a:dk2>
      <a:lt2>
        <a:srgbClr val="F1F4F9"/>
      </a:lt2>
      <a:accent1>
        <a:srgbClr val="BDCDE6"/>
      </a:accent1>
      <a:accent2>
        <a:srgbClr val="93ABD0"/>
      </a:accent2>
      <a:accent3>
        <a:srgbClr val="B397BF"/>
      </a:accent3>
      <a:accent4>
        <a:srgbClr val="D899B8"/>
      </a:accent4>
      <a:accent5>
        <a:srgbClr val="E59B91"/>
      </a:accent5>
      <a:accent6>
        <a:srgbClr val="DDD49C"/>
      </a:accent6>
      <a:hlink>
        <a:srgbClr val="5FCBFB"/>
      </a:hlink>
      <a:folHlink>
        <a:srgbClr val="B759BC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3281</Words>
  <Application>WPS 演示</Application>
  <PresentationFormat>宽屏</PresentationFormat>
  <Paragraphs>153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不甜薄荷叶</cp:lastModifiedBy>
  <cp:revision>166</cp:revision>
  <dcterms:created xsi:type="dcterms:W3CDTF">2019-06-19T02:08:00Z</dcterms:created>
  <dcterms:modified xsi:type="dcterms:W3CDTF">2026-07-20T09:26:35Z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81526C1A27C748EBB38F18453C4939AF_11</vt:lpwstr>
  </property>
</Properties>
</file>