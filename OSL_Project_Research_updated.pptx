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3"/>
    <p:sldId id="258" r:id="rId4"/>
    <p:sldId id="259" r:id="rId5"/>
    <p:sldId id="261" r:id="rId6"/>
    <p:sldId id="263" r:id="rId7"/>
    <p:sldId id="264" r:id="rId8"/>
    <p:sldId id="265" r:id="rId9"/>
    <p:sldId id="266" r:id="rId10"/>
    <p:sldId id="267" r:id="rId11"/>
    <p:sldId id="270" r:id="rId12"/>
    <p:sldId id="274" r:id="rId21"/>
    <p:sldId id="268" r:id="rId13"/>
    <p:sldId id="271" r:id="rId14"/>
    <p:sldId id="272" r:id="rId15"/>
    <p:sldId id="273" r:id="rId16"/>
  </p:sldIdLst>
  <p:sldSz cx="12192000" cy="6858000"/>
  <p:notesSz cx="6858000" cy="9144000"/>
  <p:custDataLst>
    <p:tags r:id="rId20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3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38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0" Type="http://schemas.openxmlformats.org/officeDocument/2006/relationships/tags" Target="tags/tag125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  <Relationship Id="rId21" Type="http://schemas.openxmlformats.org/officeDocument/2006/relationships/slide" Target="slides/slide15.xml"/>
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9" Type="http://schemas.openxmlformats.org/officeDocument/2006/relationships/tags" Target="../tags/tag64.xml"/><Relationship Id="rId8" Type="http://schemas.openxmlformats.org/officeDocument/2006/relationships/tags" Target="../tags/tag63.xml"/><Relationship Id="rId7" Type="http://schemas.openxmlformats.org/officeDocument/2006/relationships/tags" Target="../tags/tag62.xml"/><Relationship Id="rId6" Type="http://schemas.openxmlformats.org/officeDocument/2006/relationships/tags" Target="../tags/tag61.xml"/><Relationship Id="rId5" Type="http://schemas.openxmlformats.org/officeDocument/2006/relationships/tags" Target="../tags/tag60.xml"/><Relationship Id="rId4" Type="http://schemas.openxmlformats.org/officeDocument/2006/relationships/tags" Target="../tags/tag59.xml"/><Relationship Id="rId3" Type="http://schemas.openxmlformats.org/officeDocument/2006/relationships/tags" Target="../tags/tag58.xml"/><Relationship Id="rId2" Type="http://schemas.openxmlformats.org/officeDocument/2006/relationships/tags" Target="../tags/tag57.xml"/><Relationship Id="rId14" Type="http://schemas.openxmlformats.org/officeDocument/2006/relationships/tags" Target="../tags/tag69.xml"/><Relationship Id="rId13" Type="http://schemas.openxmlformats.org/officeDocument/2006/relationships/tags" Target="../tags/tag68.xml"/><Relationship Id="rId12" Type="http://schemas.openxmlformats.org/officeDocument/2006/relationships/tags" Target="../tags/tag67.xml"/><Relationship Id="rId11" Type="http://schemas.openxmlformats.org/officeDocument/2006/relationships/tags" Target="../tags/tag66.xml"/><Relationship Id="rId10" Type="http://schemas.openxmlformats.org/officeDocument/2006/relationships/tags" Target="../tags/tag65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多列文本_4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6386" hasCustomPrompt="1"/>
            <p:custDataLst>
              <p:tags r:id="rId3"/>
            </p:custDataLst>
          </p:nvPr>
        </p:nvSpPr>
        <p:spPr>
          <a:xfrm>
            <a:off x="609600" y="1524000"/>
            <a:ext cx="25146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8" name="装饰  7"/>
          <p:cNvSpPr>
            <a:spLocks noGrp="1"/>
          </p:cNvSpPr>
          <p:nvPr>
            <p:ph type="body" idx="16394" hasCustomPrompt="1"/>
            <p:custDataLst>
              <p:tags r:id="rId4"/>
            </p:custDataLst>
          </p:nvPr>
        </p:nvSpPr>
        <p:spPr>
          <a:xfrm>
            <a:off x="609600" y="2082800"/>
            <a:ext cx="2514600" cy="4165600"/>
          </a:xfrm>
          <a:custGeom>
            <a:avLst/>
            <a:gdLst>
              <a:gd name="connisteX0" fmla="*/ 0 w 2514600"/>
              <a:gd name="connsiteY0" fmla="*/ 203200 h 4165600"/>
              <a:gd name="connisteX1" fmla="*/ 203200 w 2514600"/>
              <a:gd name="connsiteY1" fmla="*/ 0 h 4165600"/>
              <a:gd name="connisteX2" fmla="*/ 2311400 w 2514600"/>
              <a:gd name="connsiteY2" fmla="*/ 0 h 4165600"/>
              <a:gd name="connisteX3" fmla="*/ 2514600 w 2514600"/>
              <a:gd name="connsiteY3" fmla="*/ 203200 h 4165600"/>
              <a:gd name="connisteX4" fmla="*/ 2514600 w 2514600"/>
              <a:gd name="connsiteY4" fmla="*/ 3962400 h 4165600"/>
              <a:gd name="connisteX5" fmla="*/ 2311400 w 2514600"/>
              <a:gd name="connsiteY5" fmla="*/ 4165600 h 4165600"/>
              <a:gd name="connisteX6" fmla="*/ 203200 w 2514600"/>
              <a:gd name="connsiteY6" fmla="*/ 4165600 h 4165600"/>
              <a:gd name="connisteX7" fmla="*/ 0 w 2514600"/>
              <a:gd name="connsiteY7" fmla="*/ 3962400 h 4165600"/>
              <a:gd name="connisteX8" fmla="*/ 0 w 2514600"/>
              <a:gd name="connsiteY8" fmla="*/ 203200 h 4165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2514600" h="41656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2311400" y="0"/>
                </a:lnTo>
                <a:cubicBezTo>
                  <a:pt x="2423624" y="0"/>
                  <a:pt x="2514600" y="90976"/>
                  <a:pt x="2514600" y="203200"/>
                </a:cubicBezTo>
                <a:lnTo>
                  <a:pt x="2514600" y="3962400"/>
                </a:lnTo>
                <a:cubicBezTo>
                  <a:pt x="2514600" y="4074624"/>
                  <a:pt x="2423624" y="4165600"/>
                  <a:pt x="2311400" y="4165600"/>
                </a:cubicBezTo>
                <a:lnTo>
                  <a:pt x="203200" y="4165600"/>
                </a:lnTo>
                <a:cubicBezTo>
                  <a:pt x="90976" y="4165600"/>
                  <a:pt x="0" y="4074624"/>
                  <a:pt x="0" y="39624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5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9" name="文本占位符 8"/>
          <p:cNvSpPr>
            <a:spLocks noGrp="1"/>
          </p:cNvSpPr>
          <p:nvPr>
            <p:ph type="body" idx="16387" hasCustomPrompt="1"/>
            <p:custDataLst>
              <p:tags r:id="rId5"/>
            </p:custDataLst>
          </p:nvPr>
        </p:nvSpPr>
        <p:spPr>
          <a:xfrm>
            <a:off x="914400" y="2946400"/>
            <a:ext cx="1905000" cy="2438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0" name="文本占位符 9"/>
          <p:cNvSpPr>
            <a:spLocks noGrp="1"/>
          </p:cNvSpPr>
          <p:nvPr>
            <p:ph type="body" idx="16388" hasCustomPrompt="1"/>
            <p:custDataLst>
              <p:tags r:id="rId6"/>
            </p:custDataLst>
          </p:nvPr>
        </p:nvSpPr>
        <p:spPr>
          <a:xfrm>
            <a:off x="3429000" y="1524000"/>
            <a:ext cx="25146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1" name="装饰  0"/>
          <p:cNvSpPr>
            <a:spLocks noGrp="1"/>
          </p:cNvSpPr>
          <p:nvPr>
            <p:ph type="body" idx="16395" hasCustomPrompt="1"/>
            <p:custDataLst>
              <p:tags r:id="rId7"/>
            </p:custDataLst>
          </p:nvPr>
        </p:nvSpPr>
        <p:spPr>
          <a:xfrm>
            <a:off x="3429000" y="2082800"/>
            <a:ext cx="2514600" cy="4165600"/>
          </a:xfrm>
          <a:custGeom>
            <a:avLst/>
            <a:gdLst>
              <a:gd name="connisteX0" fmla="*/ 0 w 2514600"/>
              <a:gd name="connsiteY0" fmla="*/ 203200 h 4165600"/>
              <a:gd name="connisteX1" fmla="*/ 203200 w 2514600"/>
              <a:gd name="connsiteY1" fmla="*/ 0 h 4165600"/>
              <a:gd name="connisteX2" fmla="*/ 2311400 w 2514600"/>
              <a:gd name="connsiteY2" fmla="*/ 0 h 4165600"/>
              <a:gd name="connisteX3" fmla="*/ 2514600 w 2514600"/>
              <a:gd name="connsiteY3" fmla="*/ 203200 h 4165600"/>
              <a:gd name="connisteX4" fmla="*/ 2514600 w 2514600"/>
              <a:gd name="connsiteY4" fmla="*/ 3962400 h 4165600"/>
              <a:gd name="connisteX5" fmla="*/ 2311400 w 2514600"/>
              <a:gd name="connsiteY5" fmla="*/ 4165600 h 4165600"/>
              <a:gd name="connisteX6" fmla="*/ 203200 w 2514600"/>
              <a:gd name="connsiteY6" fmla="*/ 4165600 h 4165600"/>
              <a:gd name="connisteX7" fmla="*/ 0 w 2514600"/>
              <a:gd name="connsiteY7" fmla="*/ 3962400 h 4165600"/>
              <a:gd name="connisteX8" fmla="*/ 0 w 2514600"/>
              <a:gd name="connsiteY8" fmla="*/ 203200 h 4165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2514600" h="41656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2311400" y="0"/>
                </a:lnTo>
                <a:cubicBezTo>
                  <a:pt x="2423624" y="0"/>
                  <a:pt x="2514600" y="90976"/>
                  <a:pt x="2514600" y="203200"/>
                </a:cubicBezTo>
                <a:lnTo>
                  <a:pt x="2514600" y="3962400"/>
                </a:lnTo>
                <a:cubicBezTo>
                  <a:pt x="2514600" y="4074624"/>
                  <a:pt x="2423624" y="4165600"/>
                  <a:pt x="2311400" y="4165600"/>
                </a:cubicBezTo>
                <a:lnTo>
                  <a:pt x="203200" y="4165600"/>
                </a:lnTo>
                <a:cubicBezTo>
                  <a:pt x="90976" y="4165600"/>
                  <a:pt x="0" y="4074624"/>
                  <a:pt x="0" y="39624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5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2" name="文本占位符 11"/>
          <p:cNvSpPr>
            <a:spLocks noGrp="1"/>
          </p:cNvSpPr>
          <p:nvPr>
            <p:ph type="body" idx="16389" hasCustomPrompt="1"/>
            <p:custDataLst>
              <p:tags r:id="rId8"/>
            </p:custDataLst>
          </p:nvPr>
        </p:nvSpPr>
        <p:spPr>
          <a:xfrm>
            <a:off x="3733800" y="2946400"/>
            <a:ext cx="1905000" cy="2438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3" name="文本占位符 12"/>
          <p:cNvSpPr>
            <a:spLocks noGrp="1"/>
          </p:cNvSpPr>
          <p:nvPr>
            <p:ph type="body" idx="16390" hasCustomPrompt="1"/>
            <p:custDataLst>
              <p:tags r:id="rId9"/>
            </p:custDataLst>
          </p:nvPr>
        </p:nvSpPr>
        <p:spPr>
          <a:xfrm>
            <a:off x="6248400" y="1524000"/>
            <a:ext cx="25146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4" name="装饰  3"/>
          <p:cNvSpPr>
            <a:spLocks noGrp="1"/>
          </p:cNvSpPr>
          <p:nvPr>
            <p:ph type="body" idx="16396" hasCustomPrompt="1"/>
            <p:custDataLst>
              <p:tags r:id="rId10"/>
            </p:custDataLst>
          </p:nvPr>
        </p:nvSpPr>
        <p:spPr>
          <a:xfrm>
            <a:off x="6248400" y="2082800"/>
            <a:ext cx="2514600" cy="4165600"/>
          </a:xfrm>
          <a:custGeom>
            <a:avLst/>
            <a:gdLst>
              <a:gd name="connisteX0" fmla="*/ 0 w 2514600"/>
              <a:gd name="connsiteY0" fmla="*/ 203200 h 4165600"/>
              <a:gd name="connisteX1" fmla="*/ 203200 w 2514600"/>
              <a:gd name="connsiteY1" fmla="*/ 0 h 4165600"/>
              <a:gd name="connisteX2" fmla="*/ 2311400 w 2514600"/>
              <a:gd name="connsiteY2" fmla="*/ 0 h 4165600"/>
              <a:gd name="connisteX3" fmla="*/ 2514600 w 2514600"/>
              <a:gd name="connsiteY3" fmla="*/ 203200 h 4165600"/>
              <a:gd name="connisteX4" fmla="*/ 2514600 w 2514600"/>
              <a:gd name="connsiteY4" fmla="*/ 3962400 h 4165600"/>
              <a:gd name="connisteX5" fmla="*/ 2311400 w 2514600"/>
              <a:gd name="connsiteY5" fmla="*/ 4165600 h 4165600"/>
              <a:gd name="connisteX6" fmla="*/ 203200 w 2514600"/>
              <a:gd name="connsiteY6" fmla="*/ 4165600 h 4165600"/>
              <a:gd name="connisteX7" fmla="*/ 0 w 2514600"/>
              <a:gd name="connsiteY7" fmla="*/ 3962400 h 4165600"/>
              <a:gd name="connisteX8" fmla="*/ 0 w 2514600"/>
              <a:gd name="connsiteY8" fmla="*/ 203200 h 4165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2514600" h="41656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2311400" y="0"/>
                </a:lnTo>
                <a:cubicBezTo>
                  <a:pt x="2423624" y="0"/>
                  <a:pt x="2514600" y="90976"/>
                  <a:pt x="2514600" y="203200"/>
                </a:cubicBezTo>
                <a:lnTo>
                  <a:pt x="2514600" y="3962400"/>
                </a:lnTo>
                <a:cubicBezTo>
                  <a:pt x="2514600" y="4074624"/>
                  <a:pt x="2423624" y="4165600"/>
                  <a:pt x="2311400" y="4165600"/>
                </a:cubicBezTo>
                <a:lnTo>
                  <a:pt x="203200" y="4165600"/>
                </a:lnTo>
                <a:cubicBezTo>
                  <a:pt x="90976" y="4165600"/>
                  <a:pt x="0" y="4074624"/>
                  <a:pt x="0" y="39624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5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5" name="文本占位符 14"/>
          <p:cNvSpPr>
            <a:spLocks noGrp="1"/>
          </p:cNvSpPr>
          <p:nvPr>
            <p:ph type="body" idx="16391" hasCustomPrompt="1"/>
            <p:custDataLst>
              <p:tags r:id="rId11"/>
            </p:custDataLst>
          </p:nvPr>
        </p:nvSpPr>
        <p:spPr>
          <a:xfrm>
            <a:off x="6553200" y="2946400"/>
            <a:ext cx="1905000" cy="2438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6" name="文本占位符 15"/>
          <p:cNvSpPr>
            <a:spLocks noGrp="1"/>
          </p:cNvSpPr>
          <p:nvPr>
            <p:ph type="body" idx="16392" hasCustomPrompt="1"/>
            <p:custDataLst>
              <p:tags r:id="rId12"/>
            </p:custDataLst>
          </p:nvPr>
        </p:nvSpPr>
        <p:spPr>
          <a:xfrm>
            <a:off x="9067800" y="1524000"/>
            <a:ext cx="25146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7" name="装饰  6"/>
          <p:cNvSpPr>
            <a:spLocks noGrp="1"/>
          </p:cNvSpPr>
          <p:nvPr>
            <p:ph type="body" idx="16397" hasCustomPrompt="1"/>
            <p:custDataLst>
              <p:tags r:id="rId13"/>
            </p:custDataLst>
          </p:nvPr>
        </p:nvSpPr>
        <p:spPr>
          <a:xfrm>
            <a:off x="9067800" y="2082800"/>
            <a:ext cx="2514600" cy="4165600"/>
          </a:xfrm>
          <a:custGeom>
            <a:avLst/>
            <a:gdLst>
              <a:gd name="connisteX0" fmla="*/ 0 w 2514600"/>
              <a:gd name="connsiteY0" fmla="*/ 203200 h 4165600"/>
              <a:gd name="connisteX1" fmla="*/ 203200 w 2514600"/>
              <a:gd name="connsiteY1" fmla="*/ 0 h 4165600"/>
              <a:gd name="connisteX2" fmla="*/ 2311400 w 2514600"/>
              <a:gd name="connsiteY2" fmla="*/ 0 h 4165600"/>
              <a:gd name="connisteX3" fmla="*/ 2514600 w 2514600"/>
              <a:gd name="connsiteY3" fmla="*/ 203200 h 4165600"/>
              <a:gd name="connisteX4" fmla="*/ 2514600 w 2514600"/>
              <a:gd name="connsiteY4" fmla="*/ 3962400 h 4165600"/>
              <a:gd name="connisteX5" fmla="*/ 2311400 w 2514600"/>
              <a:gd name="connsiteY5" fmla="*/ 4165600 h 4165600"/>
              <a:gd name="connisteX6" fmla="*/ 203200 w 2514600"/>
              <a:gd name="connsiteY6" fmla="*/ 4165600 h 4165600"/>
              <a:gd name="connisteX7" fmla="*/ 0 w 2514600"/>
              <a:gd name="connsiteY7" fmla="*/ 3962400 h 4165600"/>
              <a:gd name="connisteX8" fmla="*/ 0 w 2514600"/>
              <a:gd name="connsiteY8" fmla="*/ 203200 h 4165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2514600" h="41656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2311400" y="0"/>
                </a:lnTo>
                <a:cubicBezTo>
                  <a:pt x="2423624" y="0"/>
                  <a:pt x="2514600" y="90976"/>
                  <a:pt x="2514600" y="203200"/>
                </a:cubicBezTo>
                <a:lnTo>
                  <a:pt x="2514600" y="3962400"/>
                </a:lnTo>
                <a:cubicBezTo>
                  <a:pt x="2514600" y="4074624"/>
                  <a:pt x="2423624" y="4165600"/>
                  <a:pt x="2311400" y="4165600"/>
                </a:cubicBezTo>
                <a:lnTo>
                  <a:pt x="203200" y="4165600"/>
                </a:lnTo>
                <a:cubicBezTo>
                  <a:pt x="90976" y="4165600"/>
                  <a:pt x="0" y="4074624"/>
                  <a:pt x="0" y="39624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5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8" name="文本占位符 17"/>
          <p:cNvSpPr>
            <a:spLocks noGrp="1"/>
          </p:cNvSpPr>
          <p:nvPr>
            <p:ph type="body" idx="16393" hasCustomPrompt="1"/>
            <p:custDataLst>
              <p:tags r:id="rId14"/>
            </p:custDataLst>
          </p:nvPr>
        </p:nvSpPr>
        <p:spPr>
          <a:xfrm>
            <a:off x="9372600" y="2946400"/>
            <a:ext cx="1905000" cy="2438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9" Type="http://schemas.openxmlformats.org/officeDocument/2006/relationships/theme" Target="../theme/theme1.xml"/><Relationship Id="rId18" Type="http://schemas.openxmlformats.org/officeDocument/2006/relationships/tags" Target="../tags/tag75.xml"/><Relationship Id="rId17" Type="http://schemas.openxmlformats.org/officeDocument/2006/relationships/tags" Target="../tags/tag74.xml"/><Relationship Id="rId16" Type="http://schemas.openxmlformats.org/officeDocument/2006/relationships/tags" Target="../tags/tag73.xml"/><Relationship Id="rId15" Type="http://schemas.openxmlformats.org/officeDocument/2006/relationships/tags" Target="../tags/tag72.xml"/><Relationship Id="rId14" Type="http://schemas.openxmlformats.org/officeDocument/2006/relationships/tags" Target="../tags/tag71.xml"/><Relationship Id="rId13" Type="http://schemas.openxmlformats.org/officeDocument/2006/relationships/tags" Target="../tags/tag70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3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4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5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6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7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8"/>
    </p:custData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78.xml"/><Relationship Id="rId2" Type="http://schemas.openxmlformats.org/officeDocument/2006/relationships/tags" Target="../tags/tag77.xml"/><Relationship Id="rId1" Type="http://schemas.openxmlformats.org/officeDocument/2006/relationships/tags" Target="../tags/tag76.xml"/></Relationships>
</file>

<file path=ppt/slides/_rels/slide2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4.xml"/><Relationship Id="rId5" Type="http://schemas.openxmlformats.org/officeDocument/2006/relationships/tags" Target="../tags/tag82.xml"/><Relationship Id="rId4" Type="http://schemas.openxmlformats.org/officeDocument/2006/relationships/tags" Target="../tags/tag81.xml"/><Relationship Id="rId3" Type="http://schemas.openxmlformats.org/officeDocument/2006/relationships/image" Target="../media/image1.png"/><Relationship Id="rId2" Type="http://schemas.openxmlformats.org/officeDocument/2006/relationships/tags" Target="../tags/tag80.xml"/><Relationship Id="rId1" Type="http://schemas.openxmlformats.org/officeDocument/2006/relationships/tags" Target="../tags/tag79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3.xml"/><Relationship Id="rId3" Type="http://schemas.openxmlformats.org/officeDocument/2006/relationships/tags" Target="../tags/tag85.xml"/><Relationship Id="rId2" Type="http://schemas.openxmlformats.org/officeDocument/2006/relationships/tags" Target="../tags/tag84.xml"/><Relationship Id="rId1" Type="http://schemas.openxmlformats.org/officeDocument/2006/relationships/tags" Target="../tags/tag83.xml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4.xml"/><Relationship Id="rId4" Type="http://schemas.openxmlformats.org/officeDocument/2006/relationships/tags" Target="../tags/tag89.xml"/><Relationship Id="rId3" Type="http://schemas.openxmlformats.org/officeDocument/2006/relationships/tags" Target="../tags/tag88.xml"/><Relationship Id="rId2" Type="http://schemas.openxmlformats.org/officeDocument/2006/relationships/tags" Target="../tags/tag87.xml"/><Relationship Id="rId1" Type="http://schemas.openxmlformats.org/officeDocument/2006/relationships/tags" Target="../tags/tag86.xml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4.xml"/><Relationship Id="rId4" Type="http://schemas.openxmlformats.org/officeDocument/2006/relationships/tags" Target="../tags/tag93.xml"/><Relationship Id="rId3" Type="http://schemas.openxmlformats.org/officeDocument/2006/relationships/tags" Target="../tags/tag92.xml"/><Relationship Id="rId2" Type="http://schemas.openxmlformats.org/officeDocument/2006/relationships/tags" Target="../tags/tag91.xml"/><Relationship Id="rId1" Type="http://schemas.openxmlformats.org/officeDocument/2006/relationships/tags" Target="../tags/tag90.xml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4.xml"/><Relationship Id="rId4" Type="http://schemas.openxmlformats.org/officeDocument/2006/relationships/tags" Target="../tags/tag97.xml"/><Relationship Id="rId3" Type="http://schemas.openxmlformats.org/officeDocument/2006/relationships/tags" Target="../tags/tag96.xml"/><Relationship Id="rId2" Type="http://schemas.openxmlformats.org/officeDocument/2006/relationships/tags" Target="../tags/tag95.xml"/><Relationship Id="rId1" Type="http://schemas.openxmlformats.org/officeDocument/2006/relationships/tags" Target="../tags/tag94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3.xml"/><Relationship Id="rId3" Type="http://schemas.openxmlformats.org/officeDocument/2006/relationships/tags" Target="../tags/tag100.xml"/><Relationship Id="rId2" Type="http://schemas.openxmlformats.org/officeDocument/2006/relationships/tags" Target="../tags/tag99.xml"/><Relationship Id="rId1" Type="http://schemas.openxmlformats.org/officeDocument/2006/relationships/tags" Target="../tags/tag98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103.xml"/><Relationship Id="rId2" Type="http://schemas.openxmlformats.org/officeDocument/2006/relationships/tags" Target="../tags/tag102.xml"/><Relationship Id="rId1" Type="http://schemas.openxmlformats.org/officeDocument/2006/relationships/tags" Target="../tags/tag10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.xml"/><Relationship Id="rId7" Type="http://schemas.openxmlformats.org/officeDocument/2006/relationships/tags" Target="../tags/tag10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tags" Target="../tags/tag106.xml"/><Relationship Id="rId3" Type="http://schemas.openxmlformats.org/officeDocument/2006/relationships/image" Target="../media/image2.png"/><Relationship Id="rId2" Type="http://schemas.openxmlformats.org/officeDocument/2006/relationships/tags" Target="../tags/tag105.xml"/><Relationship Id="rId1" Type="http://schemas.openxmlformats.org/officeDocument/2006/relationships/tags" Target="../tags/tag104.xml"/></Relationships>
</file>

<file path=ppt/slides/_rels/slide10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4.xml"/><Relationship Id="rId4" Type="http://schemas.openxmlformats.org/officeDocument/2006/relationships/tags" Target="../tags/tag111.xml"/><Relationship Id="rId3" Type="http://schemas.openxmlformats.org/officeDocument/2006/relationships/tags" Target="../tags/tag110.xml"/><Relationship Id="rId2" Type="http://schemas.openxmlformats.org/officeDocument/2006/relationships/tags" Target="../tags/tag109.xml"/><Relationship Id="rId1" Type="http://schemas.openxmlformats.org/officeDocument/2006/relationships/tags" Target="../tags/tag108.xml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114.xml"/><Relationship Id="rId2" Type="http://schemas.openxmlformats.org/officeDocument/2006/relationships/tags" Target="../tags/tag113.xml"/><Relationship Id="rId1" Type="http://schemas.openxmlformats.org/officeDocument/2006/relationships/tags" Target="../tags/tag112.xml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4.xml"/><Relationship Id="rId4" Type="http://schemas.openxmlformats.org/officeDocument/2006/relationships/tags" Target="../tags/tag118.xml"/><Relationship Id="rId3" Type="http://schemas.openxmlformats.org/officeDocument/2006/relationships/tags" Target="../tags/tag117.xml"/><Relationship Id="rId2" Type="http://schemas.openxmlformats.org/officeDocument/2006/relationships/tags" Target="../tags/tag116.xml"/><Relationship Id="rId1" Type="http://schemas.openxmlformats.org/officeDocument/2006/relationships/tags" Target="../tags/tag115.xml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121.xml"/><Relationship Id="rId2" Type="http://schemas.openxmlformats.org/officeDocument/2006/relationships/tags" Target="../tags/tag120.xml"/><Relationship Id="rId1" Type="http://schemas.openxmlformats.org/officeDocument/2006/relationships/tags" Target="../tags/tag119.xml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124.xml"/><Relationship Id="rId2" Type="http://schemas.openxmlformats.org/officeDocument/2006/relationships/tags" Target="../tags/tag123.xml"/><Relationship Id="rId1" Type="http://schemas.openxmlformats.org/officeDocument/2006/relationships/tags" Target="../tags/tag122.xml"/></Relationships>
</file>

<file path=ppt/slides/_rels/slide15.xml.rels><?xml version="1.0" encoding="UTF-8" standalone="yes"?>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103.xml"/><Relationship Id="rId2" Type="http://schemas.openxmlformats.org/officeDocument/2006/relationships/tags" Target="../tags/tag102.xml"/><Relationship Id="rId1" Type="http://schemas.openxmlformats.org/officeDocument/2006/relationships/tags" Target="../tags/tag10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p>
            <a:r>
              <a:rPr lang="en-US" altLang="zh-CN"/>
              <a:t>OSL Project Research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 altLang="zh-CN"/>
              <a:t>Overall Summary</a:t>
            </a:r>
            <a:endParaRPr lang="en-US" altLang="zh-CN"/>
          </a:p>
        </p:txBody>
      </p:sp>
      <p:pic>
        <p:nvPicPr>
          <p:cNvPr id="6" name="内容占位符 5"/>
          <p:cNvPicPr>
            <a:picLocks noChangeAspect="1"/>
          </p:cNvPicPr>
          <p:nvPr>
            <p:ph sz="half" idx="1"/>
            <p:custDataLst>
              <p:tags r:id="rId2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6864350" y="55880"/>
            <a:ext cx="4613910" cy="6671310"/>
          </a:xfrm>
          <a:prstGeom prst="rect">
            <a:avLst/>
          </a:prstGeom>
        </p:spPr>
      </p:pic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1017275" y="1617405"/>
            <a:ext cx="5176800" cy="4748400"/>
          </a:xfrm>
        </p:spPr>
        <p:txBody>
          <a:bodyPr>
            <a:normAutofit lnSpcReduction="10000"/>
          </a:bodyPr>
          <a:p>
            <a:r>
              <a:rPr lang="en-US" altLang="zh-CN"/>
              <a:t>Currently, the research gap mainly lies in scenarios like </a:t>
            </a:r>
            <a:r>
              <a:rPr lang="en-US" altLang="zh-CN">
                <a:highlight>
                  <a:srgbClr val="FF0000"/>
                </a:highlight>
              </a:rPr>
              <a:t>multiple odor source</a:t>
            </a:r>
            <a:r>
              <a:rPr lang="en-US" altLang="zh-CN"/>
              <a:t> and </a:t>
            </a:r>
            <a:r>
              <a:rPr lang="en-US" altLang="zh-CN">
                <a:highlight>
                  <a:srgbClr val="FF0000"/>
                </a:highlight>
              </a:rPr>
              <a:t>3D-mapping</a:t>
            </a:r>
            <a:r>
              <a:rPr lang="en-US" altLang="zh-CN"/>
              <a:t>.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Hardware: active sampling methods, drones, etc</a:t>
            </a:r>
            <a:endParaRPr lang="en-US" altLang="zh-CN"/>
          </a:p>
          <a:p>
            <a:r>
              <a:rPr lang="en-US" altLang="zh-CN"/>
              <a:t>Software: bio-inspired solutions, extremum seeking control, multimodule fusion, meta-database, etc.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The key is to improve robustness, accuracy, and interpretability.</a:t>
            </a:r>
            <a:endParaRPr lang="en-US" altLang="zh-CN"/>
          </a:p>
        </p:txBody>
      </p:sp>
    </p:spTree>
    <p:custDataLst>
      <p:tags r:id="rId5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rmAutofit fontScale="90000"/>
          </a:bodyPr>
          <a:p>
            <a:r>
              <a:rPr lang="en-US" altLang="zh-CN"/>
              <a:t>Summary of current attempts</a:t>
            </a:r>
            <a:endParaRPr lang="en-US" altLang="zh-CN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p>
            <a:r>
              <a:rPr lang="en-US" altLang="zh-CN"/>
              <a:t>6 recent essays</a:t>
            </a:r>
            <a:endParaRPr lang="en-US" altLang="zh-CN"/>
          </a:p>
        </p:txBody>
      </p:sp>
    </p:spTree>
    <p:custDataLst>
      <p:tags r:id="rId3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 altLang="zh-CN"/>
              <a:t>Robotic Improvements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/>
        <p:txBody>
          <a:bodyPr/>
          <a:p>
            <a:r>
              <a:rPr lang="en-US" altLang="zh-CN" i="1"/>
              <a:t>Bio-inspired strategy against olfactory sensory deficiency in OSL</a:t>
            </a:r>
            <a:endParaRPr lang="en-US" altLang="zh-CN" i="1"/>
          </a:p>
          <a:p>
            <a:r>
              <a:rPr lang="en-US" altLang="zh-CN">
                <a:highlight>
                  <a:srgbClr val="FF0000"/>
                </a:highlight>
              </a:rPr>
              <a:t>bio-inspired algorithm</a:t>
            </a:r>
            <a:endParaRPr lang="en-US" altLang="zh-CN">
              <a:highlight>
                <a:srgbClr val="FF0000"/>
              </a:highlight>
            </a:endParaRPr>
          </a:p>
          <a:p>
            <a:r>
              <a:rPr lang="en-US" altLang="zh-CN">
                <a:highlight>
                  <a:srgbClr val="FF0000"/>
                </a:highlight>
              </a:rPr>
              <a:t>solving hardware failure scenarios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CDMI algorithm (POD+PDF sampling-&gt;controlling under sensor impairment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future outlook: 3D, “switch” strategy</a:t>
            </a:r>
            <a:endParaRPr lang="en-US" altLang="zh-CN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/>
        <p:txBody>
          <a:bodyPr/>
          <a:p>
            <a:r>
              <a:rPr lang="en-US" altLang="zh-CN" i="1"/>
              <a:t>Sniffbot</a:t>
            </a:r>
            <a:endParaRPr lang="en-US" altLang="zh-CN" i="1"/>
          </a:p>
          <a:p>
            <a:r>
              <a:rPr lang="en-US" altLang="zh-CN">
                <a:highlight>
                  <a:srgbClr val="FF0000"/>
                </a:highlight>
              </a:rPr>
              <a:t>active-sampling</a:t>
            </a:r>
            <a:endParaRPr lang="en-US" altLang="zh-CN">
              <a:highlight>
                <a:srgbClr val="FF0000"/>
              </a:highlight>
            </a:endParaRPr>
          </a:p>
          <a:p>
            <a:endParaRPr lang="en-US" altLang="zh-CN"/>
          </a:p>
          <a:p>
            <a:r>
              <a:rPr lang="en-US" altLang="zh-CN"/>
              <a:t>active sampling: air pump+solenoid valve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Trident algorithm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future outlook: multiple source. multiple robots, memory mechanism</a:t>
            </a:r>
            <a:endParaRPr lang="en-US" altLang="zh-CN"/>
          </a:p>
        </p:txBody>
      </p:sp>
    </p:spTree>
    <p:custDataLst>
      <p:tags r:id="rId4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 altLang="zh-CN"/>
              <a:t>Algorithm Improvements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/>
        <p:txBody>
          <a:bodyPr>
            <a:normAutofit fontScale="90000" lnSpcReduction="10000"/>
          </a:bodyPr>
          <a:p>
            <a:r>
              <a:rPr lang="en-US" altLang="zh-CN" i="1"/>
              <a:t>LLM</a:t>
            </a:r>
            <a:endParaRPr lang="en-US" altLang="zh-CN" i="1"/>
          </a:p>
          <a:p>
            <a:r>
              <a:rPr lang="en-US" altLang="zh-CN">
                <a:highlight>
                  <a:srgbClr val="FF0000"/>
                </a:highlight>
              </a:rPr>
              <a:t>robustness</a:t>
            </a:r>
            <a:r>
              <a:rPr lang="en-US" altLang="zh-CN"/>
              <a:t> to environment changes</a:t>
            </a:r>
            <a:endParaRPr lang="en-US" altLang="zh-CN"/>
          </a:p>
          <a:p>
            <a:r>
              <a:rPr lang="en-US" altLang="zh-CN">
                <a:highlight>
                  <a:srgbClr val="FF0000"/>
                </a:highlight>
              </a:rPr>
              <a:t>explanations</a:t>
            </a:r>
            <a:r>
              <a:rPr lang="en-US" altLang="zh-CN"/>
              <a:t> on decision making</a:t>
            </a:r>
            <a:endParaRPr lang="en-US" altLang="zh-CN" i="1"/>
          </a:p>
          <a:p>
            <a:endParaRPr lang="en-US" altLang="zh-CN" i="1"/>
          </a:p>
          <a:p>
            <a:r>
              <a:rPr lang="en-US" altLang="zh-CN"/>
              <a:t>environment module+reasoning module+memory module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reasoning according to similar cases in the memory and the detection of environment.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future outlook: dynamic memory base, multiple source</a:t>
            </a:r>
            <a:endParaRPr lang="en-US" altLang="zh-CN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/>
        <p:txBody>
          <a:bodyPr/>
          <a:p>
            <a:r>
              <a:rPr lang="en-US" altLang="zh-CN" i="1"/>
              <a:t>Noise enhances localization</a:t>
            </a:r>
            <a:endParaRPr lang="en-US" altLang="zh-CN" i="1"/>
          </a:p>
          <a:p>
            <a:r>
              <a:rPr lang="en-US" altLang="zh-CN">
                <a:highlight>
                  <a:srgbClr val="FF0000"/>
                </a:highlight>
              </a:rPr>
              <a:t>a counterintuitive assumption</a:t>
            </a:r>
            <a:endParaRPr lang="en-US" altLang="zh-CN" i="1"/>
          </a:p>
          <a:p>
            <a:endParaRPr lang="en-US" altLang="zh-CN" i="1"/>
          </a:p>
          <a:p>
            <a:r>
              <a:rPr lang="en-US" altLang="zh-CN"/>
              <a:t>theoretical explanations</a:t>
            </a:r>
            <a:endParaRPr lang="en-US" altLang="zh-CN"/>
          </a:p>
          <a:p>
            <a:r>
              <a:rPr lang="en-US" altLang="zh-CN"/>
              <a:t>DNS simulating</a:t>
            </a:r>
            <a:endParaRPr lang="en-US" altLang="zh-CN"/>
          </a:p>
          <a:p>
            <a:r>
              <a:rPr lang="en-US" altLang="zh-CN"/>
              <a:t>adding noise on location perception-&gt;better OSL outcome</a:t>
            </a:r>
            <a:endParaRPr lang="en-US" altLang="zh-CN"/>
          </a:p>
          <a:p>
            <a:endParaRPr lang="zh-CN" altLang="en-US"/>
          </a:p>
          <a:p>
            <a:r>
              <a:rPr lang="en-US" altLang="zh-CN"/>
              <a:t>future outlook: real time validation</a:t>
            </a:r>
            <a:endParaRPr lang="en-US" altLang="zh-CN"/>
          </a:p>
        </p:txBody>
      </p:sp>
    </p:spTree>
    <p:custDataLst>
      <p:tags r:id="rId4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 altLang="zh-CN"/>
              <a:t>Algorithm Improvements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/>
        <p:txBody>
          <a:bodyPr/>
          <a:p>
            <a:r>
              <a:rPr lang="en-US" altLang="zh-CN" i="1"/>
              <a:t>Multi-agent reinforcement learning</a:t>
            </a:r>
            <a:endParaRPr lang="en-US" altLang="zh-CN" i="1"/>
          </a:p>
          <a:p>
            <a:r>
              <a:rPr lang="en-US" altLang="zh-CN">
                <a:highlight>
                  <a:srgbClr val="FF0000"/>
                </a:highlight>
              </a:rPr>
              <a:t>multi-source+multi-robot</a:t>
            </a:r>
            <a:endParaRPr lang="en-US" altLang="zh-CN" i="1"/>
          </a:p>
          <a:p>
            <a:endParaRPr lang="en-US" altLang="zh-CN" i="1"/>
          </a:p>
          <a:p>
            <a:r>
              <a:rPr lang="en-US" altLang="zh-CN">
                <a:sym typeface="+mn-ea"/>
              </a:rPr>
              <a:t>Action-Specific Double Deep Recurrent Q-Network</a:t>
            </a:r>
            <a:endParaRPr lang="en-US" altLang="zh-CN">
              <a:sym typeface="+mn-ea"/>
            </a:endParaRPr>
          </a:p>
          <a:p>
            <a:r>
              <a:rPr lang="en-US" altLang="zh-CN"/>
              <a:t>last action+state+teammate’s states-&gt;LSTM-&gt;Q-learning outcome</a:t>
            </a:r>
            <a:endParaRPr lang="en-US" altLang="zh-CN"/>
          </a:p>
          <a:p>
            <a:r>
              <a:rPr lang="en-US" altLang="zh-CN"/>
              <a:t>training-&gt;hyperparameters</a:t>
            </a:r>
            <a:endParaRPr lang="en-US" altLang="zh-CN"/>
          </a:p>
          <a:p>
            <a:endParaRPr lang="zh-CN" altLang="en-US"/>
          </a:p>
          <a:p>
            <a:r>
              <a:rPr lang="en-US" altLang="zh-CN"/>
              <a:t>future outlook: real world validation</a:t>
            </a:r>
            <a:endParaRPr lang="en-US" altLang="zh-CN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/>
        <p:txBody>
          <a:bodyPr/>
          <a:p>
            <a:r>
              <a:rPr lang="en-US" altLang="zh-CN" i="1"/>
              <a:t>Deep Reinforcement Learning</a:t>
            </a:r>
            <a:endParaRPr lang="en-US" altLang="zh-CN" i="1"/>
          </a:p>
          <a:p>
            <a:endParaRPr lang="en-US" altLang="zh-CN" i="1"/>
          </a:p>
          <a:p>
            <a:r>
              <a:rPr lang="en-US" altLang="zh-CN"/>
              <a:t>open AI Gym simulation</a:t>
            </a:r>
            <a:endParaRPr lang="en-US" altLang="zh-CN"/>
          </a:p>
          <a:p>
            <a:r>
              <a:rPr lang="en-US" altLang="zh-CN"/>
              <a:t>PPO deep learning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future outlook: multiple source, real world validation</a:t>
            </a:r>
            <a:endParaRPr lang="en-US" altLang="zh-CN"/>
          </a:p>
        </p:txBody>
      </p:sp>
    </p:spTree>
    <p:custDataLst>
      <p:tags r:id="rId4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 altLang="zh-CN"/>
              <a:t>Future Research Plan</a:t>
            </a:r>
            <a:endParaRPr lang="en-US" altLang="zh-CN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3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 altLang="zh-CN"/>
              <a:t>Research Aim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en-US" altLang="zh-CN"/>
              <a:t>Exploration and development of an algorithm on multi-source backgrounds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Main challenges:</a:t>
            </a:r>
            <a:endParaRPr lang="en-US" altLang="zh-CN"/>
          </a:p>
          <a:p>
            <a:pPr marL="0" indent="0">
              <a:buNone/>
            </a:pPr>
            <a:r>
              <a:rPr lang="en-US" altLang="zh-CN"/>
              <a:t>(1) Identification of individual sources</a:t>
            </a:r>
            <a:endParaRPr lang="en-US" altLang="zh-CN"/>
          </a:p>
          <a:p>
            <a:pPr marL="0" indent="0">
              <a:buNone/>
            </a:pPr>
            <a:r>
              <a:rPr lang="en-US" altLang="zh-CN"/>
              <a:t>(2) Avoidance of local optima</a:t>
            </a:r>
            <a:endParaRPr lang="en-US" altLang="zh-CN"/>
          </a:p>
          <a:p>
            <a:pPr marL="0" indent="0">
              <a:buNone/>
            </a:pPr>
            <a:r>
              <a:rPr lang="en-US" altLang="zh-CN"/>
              <a:t>(3) Cooperation and communication between swarm robots</a:t>
            </a:r>
            <a:endParaRPr lang="en-US" altLang="zh-CN"/>
          </a:p>
        </p:txBody>
      </p:sp>
    </p:spTree>
    <p:custDataLst>
      <p:tags r:id="rId3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 altLang="zh-CN"/>
              <a:t>Major References</a:t>
            </a:r>
            <a:endParaRPr lang="en-US" altLang="zh-CN"/>
          </a:p>
        </p:txBody>
      </p:sp>
      <p:pic>
        <p:nvPicPr>
          <p:cNvPr id="5" name="内容占位符 4"/>
          <p:cNvPicPr>
            <a:picLocks noChangeAspect="1"/>
          </p:cNvPicPr>
          <p:nvPr>
            <p:ph sz="half" idx="1"/>
            <p:custDataLst>
              <p:tags r:id="rId2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372110" y="1466850"/>
            <a:ext cx="5858510" cy="2411730"/>
          </a:xfrm>
          <a:prstGeom prst="rect">
            <a:avLst/>
          </a:prstGeom>
        </p:spPr>
      </p:pic>
      <p:pic>
        <p:nvPicPr>
          <p:cNvPr id="6" name="内容占位符 5"/>
          <p:cNvPicPr>
            <a:picLocks noChangeAspect="1"/>
          </p:cNvPicPr>
          <p:nvPr>
            <p:ph sz="half" idx="2"/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372110" y="3959860"/>
            <a:ext cx="5857875" cy="264223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00750" y="1927225"/>
            <a:ext cx="6022340" cy="3367405"/>
          </a:xfrm>
          <a:prstGeom prst="rect">
            <a:avLst/>
          </a:prstGeom>
        </p:spPr>
      </p:pic>
    </p:spTree>
    <p:custDataLst>
      <p:tags r:id="rId7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 altLang="zh-CN"/>
              <a:t>Main References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/>
        <p:txBody>
          <a:bodyPr>
            <a:normAutofit fontScale="90000"/>
          </a:bodyPr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>
                <a:sym typeface="+mn-ea"/>
              </a:rPr>
              <a:t>I-SSO algorithm: </a:t>
            </a:r>
            <a:endParaRPr lang="en-US" altLang="zh-CN"/>
          </a:p>
          <a:p>
            <a:pPr indent="0">
              <a:buFont typeface="Wingdings" panose="05000000000000000000" charset="0"/>
              <a:buNone/>
            </a:pPr>
            <a:r>
              <a:rPr lang="en-US" altLang="zh-CN">
                <a:sym typeface="+mn-ea"/>
              </a:rPr>
              <a:t>-rotation movement-&gt;exploration method</a:t>
            </a:r>
            <a:endParaRPr lang="en-US" altLang="zh-CN"/>
          </a:p>
          <a:p>
            <a:pPr indent="0">
              <a:buFont typeface="Wingdings" panose="05000000000000000000" charset="0"/>
              <a:buNone/>
            </a:pPr>
            <a:r>
              <a:rPr lang="en-US" altLang="zh-CN">
                <a:sym typeface="+mn-ea"/>
              </a:rPr>
              <a:t>-variance triggered escape-&gt;avoid local optima</a:t>
            </a:r>
            <a:endParaRPr lang="en-US" altLang="zh-CN"/>
          </a:p>
          <a:p>
            <a:pPr indent="0">
              <a:buFont typeface="Wingdings" panose="05000000000000000000" charset="0"/>
              <a:buNone/>
            </a:pPr>
            <a:r>
              <a:rPr lang="en-US" altLang="zh-CN">
                <a:sym typeface="+mn-ea"/>
              </a:rPr>
              <a:t>-swarm best-&gt;information communication</a:t>
            </a:r>
            <a:endParaRPr lang="en-US" altLang="zh-CN"/>
          </a:p>
          <a:p>
            <a:pPr indent="0">
              <a:buFont typeface="Wingdings" panose="05000000000000000000" charset="0"/>
              <a:buNone/>
            </a:pPr>
            <a:endParaRPr lang="en-US" altLang="zh-CN"/>
          </a:p>
          <a:p>
            <a:pPr marL="285750" lvl="0" indent="-285750">
              <a:buFont typeface="Wingdings" panose="05000000000000000000" charset="0"/>
              <a:buChar char="l"/>
            </a:pPr>
            <a:r>
              <a:rPr lang="en-US" altLang="zh-CN">
                <a:solidFill>
                  <a:schemeClr val="tx1"/>
                </a:solidFill>
                <a:sym typeface="+mn-ea"/>
              </a:rPr>
              <a:t>ADDRQN:</a:t>
            </a:r>
            <a:endParaRPr lang="en-US" altLang="zh-CN">
              <a:solidFill>
                <a:schemeClr val="tx1"/>
              </a:solidFill>
            </a:endParaRPr>
          </a:p>
          <a:p>
            <a:pPr lvl="0" indent="0">
              <a:buFont typeface="Wingdings" panose="05000000000000000000" charset="0"/>
              <a:buNone/>
            </a:pPr>
            <a:r>
              <a:rPr lang="en-US" altLang="zh-CN">
                <a:solidFill>
                  <a:schemeClr val="tx1"/>
                </a:solidFill>
                <a:sym typeface="+mn-ea"/>
              </a:rPr>
              <a:t>-deep Q-learning</a:t>
            </a:r>
            <a:endParaRPr lang="en-US" altLang="zh-CN">
              <a:solidFill>
                <a:schemeClr val="tx1"/>
              </a:solidFill>
            </a:endParaRPr>
          </a:p>
          <a:p>
            <a:pPr lvl="0" indent="0">
              <a:buFont typeface="Wingdings" panose="05000000000000000000" charset="0"/>
              <a:buNone/>
            </a:pPr>
            <a:r>
              <a:rPr lang="en-US" altLang="zh-CN">
                <a:solidFill>
                  <a:schemeClr val="tx1"/>
                </a:solidFill>
                <a:sym typeface="+mn-ea"/>
              </a:rPr>
              <a:t>-state+action+memory-&gt;learning method, robustness to environment</a:t>
            </a:r>
            <a:endParaRPr lang="en-US" altLang="zh-CN">
              <a:solidFill>
                <a:schemeClr val="tx1"/>
              </a:solidFill>
            </a:endParaRPr>
          </a:p>
          <a:p>
            <a:pPr lvl="0" indent="0">
              <a:buFont typeface="Wingdings" panose="05000000000000000000" charset="0"/>
              <a:buNone/>
            </a:pPr>
            <a:endParaRPr lang="en-US" altLang="zh-CN">
              <a:solidFill>
                <a:schemeClr val="tx1"/>
              </a:solidFill>
            </a:endParaRPr>
          </a:p>
          <a:p>
            <a:pPr lvl="0" indent="0">
              <a:buFont typeface="Wingdings" panose="05000000000000000000" charset="0"/>
              <a:buNone/>
            </a:pPr>
            <a:endParaRPr lang="en-US" altLang="zh-CN">
              <a:solidFill>
                <a:schemeClr val="tx1"/>
              </a:solidFill>
            </a:endParaRPr>
          </a:p>
          <a:p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/>
        <p:txBody>
          <a:bodyPr/>
          <a:p>
            <a:pPr marL="285750" lvl="0" indent="-285750">
              <a:buFont typeface="Wingdings" panose="05000000000000000000" charset="0"/>
              <a:buChar char="l"/>
            </a:pPr>
            <a:r>
              <a:rPr lang="en-US" altLang="zh-CN">
                <a:solidFill>
                  <a:schemeClr val="tx1"/>
                </a:solidFill>
                <a:sym typeface="+mn-ea"/>
              </a:rPr>
              <a:t>DIAS:</a:t>
            </a:r>
            <a:endParaRPr lang="en-US" altLang="zh-CN">
              <a:solidFill>
                <a:schemeClr val="tx1"/>
              </a:solidFill>
              <a:sym typeface="+mn-ea"/>
            </a:endParaRPr>
          </a:p>
          <a:p>
            <a:pPr marL="0" lvl="0" indent="0">
              <a:buFont typeface="Wingdings" panose="05000000000000000000" charset="0"/>
              <a:buNone/>
            </a:pPr>
            <a:r>
              <a:rPr lang="en-US" altLang="zh-CN">
                <a:solidFill>
                  <a:schemeClr val="tx1"/>
                </a:solidFill>
                <a:sym typeface="+mn-ea"/>
              </a:rPr>
              <a:t>-dividing space according to Voronoi</a:t>
            </a:r>
            <a:endParaRPr lang="en-US" altLang="zh-CN">
              <a:solidFill>
                <a:schemeClr val="tx1"/>
              </a:solidFill>
              <a:sym typeface="+mn-ea"/>
            </a:endParaRPr>
          </a:p>
          <a:p>
            <a:pPr marL="0" lvl="0" indent="0">
              <a:buFont typeface="Wingdings" panose="05000000000000000000" charset="0"/>
              <a:buNone/>
            </a:pPr>
            <a:r>
              <a:rPr lang="en-US" altLang="zh-CN">
                <a:solidFill>
                  <a:schemeClr val="tx1"/>
                </a:solidFill>
                <a:sym typeface="+mn-ea"/>
              </a:rPr>
              <a:t>-predict according to Gaussian process</a:t>
            </a:r>
            <a:endParaRPr lang="en-US" altLang="zh-CN">
              <a:solidFill>
                <a:schemeClr val="tx1"/>
              </a:solidFill>
              <a:sym typeface="+mn-ea"/>
            </a:endParaRPr>
          </a:p>
          <a:p>
            <a:pPr marL="285750" lvl="0" indent="-285750">
              <a:buFont typeface="Wingdings" panose="05000000000000000000" charset="0"/>
              <a:buChar char="l"/>
            </a:pPr>
            <a:endParaRPr lang="en-US" altLang="zh-CN">
              <a:solidFill>
                <a:schemeClr val="tx1"/>
              </a:solidFill>
              <a:sym typeface="+mn-ea"/>
            </a:endParaRPr>
          </a:p>
          <a:p>
            <a:pPr marL="285750" lvl="0" indent="-285750">
              <a:buFont typeface="Wingdings" panose="05000000000000000000" charset="0"/>
              <a:buChar char="l"/>
            </a:pPr>
            <a:r>
              <a:rPr lang="en-US" altLang="zh-CN">
                <a:solidFill>
                  <a:schemeClr val="tx1"/>
                </a:solidFill>
                <a:sym typeface="+mn-ea"/>
              </a:rPr>
              <a:t>A possible combination:</a:t>
            </a:r>
            <a:endParaRPr lang="en-US" altLang="zh-CN">
              <a:solidFill>
                <a:schemeClr val="tx1"/>
              </a:solidFill>
            </a:endParaRPr>
          </a:p>
          <a:p>
            <a:pPr lvl="0" indent="0">
              <a:buFont typeface="Wingdings" panose="05000000000000000000" charset="0"/>
              <a:buNone/>
            </a:pPr>
            <a:r>
              <a:rPr lang="en-US" altLang="zh-CN">
                <a:solidFill>
                  <a:schemeClr val="tx1"/>
                </a:solidFill>
                <a:sym typeface="+mn-ea"/>
              </a:rPr>
              <a:t>ADDRQN learning method+I-SSO(escape+rotation)</a:t>
            </a:r>
            <a:endParaRPr lang="en-US" altLang="zh-CN">
              <a:solidFill>
                <a:schemeClr val="tx1"/>
              </a:solidFill>
            </a:endParaRPr>
          </a:p>
          <a:p>
            <a:pPr lvl="0" indent="0">
              <a:buFont typeface="Wingdings" panose="05000000000000000000" charset="0"/>
              <a:buNone/>
            </a:pPr>
            <a:r>
              <a:rPr lang="en-US" altLang="zh-CN">
                <a:solidFill>
                  <a:schemeClr val="tx1"/>
                </a:solidFill>
                <a:sym typeface="+mn-ea"/>
              </a:rPr>
              <a:t>-replacing greedy exploration with rotation</a:t>
            </a:r>
            <a:endParaRPr lang="en-US" altLang="zh-CN">
              <a:solidFill>
                <a:schemeClr val="tx1"/>
              </a:solidFill>
            </a:endParaRPr>
          </a:p>
          <a:p>
            <a:pPr lvl="0" indent="0">
              <a:buFont typeface="Wingdings" panose="05000000000000000000" charset="0"/>
              <a:buNone/>
            </a:pPr>
            <a:r>
              <a:rPr lang="en-US" altLang="zh-CN">
                <a:solidFill>
                  <a:schemeClr val="tx1"/>
                </a:solidFill>
                <a:sym typeface="+mn-ea"/>
              </a:rPr>
              <a:t>-inviting variance triggered escape</a:t>
            </a:r>
            <a:endParaRPr lang="en-US" altLang="zh-CN">
              <a:solidFill>
                <a:schemeClr val="tx1"/>
              </a:solidFill>
            </a:endParaRPr>
          </a:p>
          <a:p>
            <a:endParaRPr lang="zh-CN" altLang="en-US"/>
          </a:p>
        </p:txBody>
      </p:sp>
    </p:spTree>
    <p:custDataLst>
      <p:tags r:id="rId4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 altLang="zh-CN"/>
              <a:t>Research Plan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en-US" altLang="zh-CN"/>
              <a:t>Reproducing the algorithms on multiple source OSL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Comparing the performance (on real robots?)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Seek possible future advancements</a:t>
            </a:r>
            <a:endParaRPr lang="en-US" altLang="zh-CN"/>
          </a:p>
        </p:txBody>
      </p:sp>
    </p:spTree>
    <p:custDataLst>
      <p:tags r:id="rId3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rmAutofit/>
          </a:bodyPr>
          <a:p>
            <a:r>
              <a:rPr lang="en-US" altLang="zh-CN"/>
              <a:t>Research Stage I- reproducing algorithms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/>
        <p:txBody>
          <a:bodyPr/>
          <a:p>
            <a:r>
              <a:rPr lang="en-US" altLang="zh-CN"/>
              <a:t>I-SSO (matlab/python)</a:t>
            </a:r>
            <a:endParaRPr lang="en-US" altLang="zh-CN"/>
          </a:p>
          <a:p>
            <a:pPr marL="0" indent="0">
              <a:buNone/>
            </a:pPr>
            <a:r>
              <a:rPr lang="en-US" altLang="zh-CN"/>
              <a:t>-use CFD to produce simulation environment</a:t>
            </a:r>
            <a:endParaRPr lang="en-US" altLang="zh-CN"/>
          </a:p>
          <a:p>
            <a:pPr marL="0" indent="0">
              <a:buNone/>
            </a:pPr>
            <a:r>
              <a:rPr lang="en-US" altLang="zh-CN"/>
              <a:t>-robot defining and movement(forward/rotation)</a:t>
            </a:r>
            <a:endParaRPr lang="en-US" altLang="zh-CN"/>
          </a:p>
          <a:p>
            <a:pPr marL="0" indent="0">
              <a:buNone/>
            </a:pPr>
            <a:r>
              <a:rPr lang="en-US" altLang="zh-CN"/>
              <a:t>-swarm communication</a:t>
            </a:r>
            <a:endParaRPr lang="en-US" altLang="zh-CN"/>
          </a:p>
          <a:p>
            <a:pPr marL="0" indent="0">
              <a:buNone/>
            </a:pPr>
            <a:r>
              <a:rPr lang="en-US" altLang="zh-CN"/>
              <a:t>-</a:t>
            </a:r>
            <a:r>
              <a:rPr lang="en-US" altLang="zh-CN">
                <a:solidFill>
                  <a:schemeClr val="tx1"/>
                </a:solidFill>
                <a:sym typeface="+mn-ea"/>
              </a:rPr>
              <a:t>variance triggered escape</a:t>
            </a:r>
            <a:endParaRPr lang="en-US" altLang="zh-CN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/>
        <p:txBody>
          <a:bodyPr/>
          <a:p>
            <a:r>
              <a:rPr lang="en-US" altLang="zh-CN"/>
              <a:t>DIAS (python+ROS simulation)</a:t>
            </a:r>
            <a:endParaRPr lang="en-US" altLang="zh-CN"/>
          </a:p>
          <a:p>
            <a:pPr marL="0" indent="0">
              <a:buNone/>
            </a:pPr>
            <a:r>
              <a:rPr lang="en-US" altLang="zh-CN"/>
              <a:t>-Voronoi division</a:t>
            </a:r>
            <a:endParaRPr lang="en-US" altLang="zh-CN"/>
          </a:p>
          <a:p>
            <a:pPr marL="0" indent="0">
              <a:buNone/>
            </a:pPr>
            <a:r>
              <a:rPr lang="en-US" altLang="zh-CN"/>
              <a:t>-GP regression</a:t>
            </a:r>
            <a:endParaRPr lang="en-US" altLang="zh-CN"/>
          </a:p>
          <a:p>
            <a:pPr marL="0" indent="0">
              <a:buNone/>
            </a:pPr>
            <a:r>
              <a:rPr lang="en-US" altLang="zh-CN"/>
              <a:t>-identifying potential source</a:t>
            </a:r>
            <a:endParaRPr lang="en-US" altLang="zh-CN"/>
          </a:p>
          <a:p>
            <a:pPr marL="0" indent="0">
              <a:buNone/>
            </a:pPr>
            <a:r>
              <a:rPr lang="en-US" altLang="zh-CN"/>
              <a:t>-controller (state machine)</a:t>
            </a:r>
            <a:endParaRPr lang="en-US" altLang="zh-CN"/>
          </a:p>
          <a:p>
            <a:pPr marL="0" indent="0">
              <a:buNone/>
            </a:pPr>
            <a:r>
              <a:rPr lang="en-US" altLang="zh-CN"/>
              <a:t>-Ergodic Control</a:t>
            </a:r>
            <a:endParaRPr lang="en-US" altLang="zh-CN"/>
          </a:p>
          <a:p>
            <a:pPr marL="0" indent="0">
              <a:buNone/>
            </a:pPr>
            <a:r>
              <a:rPr lang="en-US" altLang="zh-CN"/>
              <a:t>-MPC</a:t>
            </a:r>
            <a:endParaRPr lang="en-US" altLang="zh-CN"/>
          </a:p>
          <a:p>
            <a:pPr marL="0" indent="0">
              <a:buNone/>
            </a:pPr>
            <a:r>
              <a:rPr lang="en-US" altLang="zh-CN"/>
              <a:t>-communication</a:t>
            </a:r>
            <a:endParaRPr lang="en-US" altLang="zh-CN"/>
          </a:p>
        </p:txBody>
      </p:sp>
    </p:spTree>
    <p:custDataLst>
      <p:tags r:id="rId4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 altLang="zh-CN">
                <a:sym typeface="+mn-ea"/>
              </a:rPr>
              <a:t>Research Stage I- reproducing algorithms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pPr marL="0" indent="0">
              <a:buNone/>
            </a:pPr>
            <a:r>
              <a:rPr lang="en-US" altLang="zh-CN">
                <a:sym typeface="+mn-ea"/>
              </a:rPr>
              <a:t>ADDRQN:</a:t>
            </a:r>
            <a:endParaRPr lang="zh-CN" altLang="en-US">
              <a:sym typeface="+mn-ea"/>
            </a:endParaRPr>
          </a:p>
          <a:p>
            <a:r>
              <a:rPr lang="zh-CN" altLang="en-US">
                <a:sym typeface="+mn-ea"/>
              </a:rPr>
              <a:t>仿真环境搭建：高斯羽流模型</a:t>
            </a:r>
            <a:r>
              <a:rPr lang="en-US" altLang="zh-CN">
                <a:sym typeface="+mn-ea"/>
              </a:rPr>
              <a:t>+UAV</a:t>
            </a:r>
            <a:r>
              <a:rPr lang="zh-CN" altLang="en-US">
                <a:sym typeface="+mn-ea"/>
              </a:rPr>
              <a:t>运动学</a:t>
            </a:r>
            <a:r>
              <a:rPr lang="en-US" altLang="zh-CN">
                <a:sym typeface="+mn-ea"/>
              </a:rPr>
              <a:t>+</a:t>
            </a:r>
            <a:r>
              <a:rPr lang="zh-CN" altLang="en-US">
                <a:sym typeface="+mn-ea"/>
              </a:rPr>
              <a:t>设计稀疏奖励函数</a:t>
            </a:r>
            <a:endParaRPr lang="zh-CN" altLang="en-US"/>
          </a:p>
          <a:p>
            <a:r>
              <a:rPr lang="en-US" altLang="zh-CN">
                <a:sym typeface="+mn-ea"/>
              </a:rPr>
              <a:t>ADDRQN</a:t>
            </a:r>
            <a:r>
              <a:rPr lang="zh-CN" altLang="en-US">
                <a:sym typeface="+mn-ea"/>
              </a:rPr>
              <a:t>网络：（</a:t>
            </a:r>
            <a:r>
              <a:rPr lang="en-US" altLang="zh-CN">
                <a:sym typeface="+mn-ea"/>
              </a:rPr>
              <a:t>1</a:t>
            </a:r>
            <a:r>
              <a:rPr lang="zh-CN" altLang="en-US">
                <a:sym typeface="+mn-ea"/>
              </a:rPr>
              <a:t>）三个</a:t>
            </a:r>
            <a:r>
              <a:rPr lang="en-US" altLang="zh-CN">
                <a:sym typeface="+mn-ea"/>
              </a:rPr>
              <a:t>MLP</a:t>
            </a:r>
            <a:r>
              <a:rPr lang="zh-CN" altLang="en-US">
                <a:sym typeface="+mn-ea"/>
              </a:rPr>
              <a:t>（当前观测</a:t>
            </a:r>
            <a:r>
              <a:rPr lang="en-US" altLang="zh-CN">
                <a:sym typeface="+mn-ea"/>
              </a:rPr>
              <a:t>/</a:t>
            </a:r>
            <a:r>
              <a:rPr lang="zh-CN" altLang="en-US">
                <a:sym typeface="+mn-ea"/>
              </a:rPr>
              <a:t>动作编码</a:t>
            </a:r>
            <a:r>
              <a:rPr lang="en-US" altLang="zh-CN">
                <a:sym typeface="+mn-ea"/>
              </a:rPr>
              <a:t>/Q</a:t>
            </a:r>
            <a:r>
              <a:rPr lang="zh-CN" altLang="en-US">
                <a:sym typeface="+mn-ea"/>
              </a:rPr>
              <a:t>值输出层）；（</a:t>
            </a:r>
            <a:r>
              <a:rPr lang="en-US" altLang="zh-CN">
                <a:sym typeface="+mn-ea"/>
              </a:rPr>
              <a:t>2</a:t>
            </a:r>
            <a:r>
              <a:rPr lang="zh-CN" altLang="en-US">
                <a:sym typeface="+mn-ea"/>
              </a:rPr>
              <a:t>）</a:t>
            </a:r>
            <a:r>
              <a:rPr lang="en-US" altLang="zh-CN">
                <a:sym typeface="+mn-ea"/>
              </a:rPr>
              <a:t>GRU</a:t>
            </a:r>
            <a:r>
              <a:rPr lang="zh-CN" altLang="en-US">
                <a:sym typeface="+mn-ea"/>
              </a:rPr>
              <a:t>的队友编码；（</a:t>
            </a:r>
            <a:r>
              <a:rPr lang="en-US" altLang="zh-CN">
                <a:sym typeface="+mn-ea"/>
              </a:rPr>
              <a:t>3</a:t>
            </a:r>
            <a:r>
              <a:rPr lang="zh-CN" altLang="en-US">
                <a:sym typeface="+mn-ea"/>
              </a:rPr>
              <a:t>）</a:t>
            </a:r>
            <a:r>
              <a:rPr lang="en-US" altLang="zh-CN">
                <a:sym typeface="+mn-ea"/>
              </a:rPr>
              <a:t>GRU</a:t>
            </a:r>
            <a:r>
              <a:rPr lang="zh-CN" altLang="en-US">
                <a:sym typeface="+mn-ea"/>
              </a:rPr>
              <a:t>或者</a:t>
            </a:r>
            <a:r>
              <a:rPr lang="en-US" altLang="zh-CN">
                <a:sym typeface="+mn-ea"/>
              </a:rPr>
              <a:t>LSTM</a:t>
            </a:r>
            <a:r>
              <a:rPr lang="zh-CN" altLang="en-US">
                <a:sym typeface="+mn-ea"/>
              </a:rPr>
              <a:t>的时序聚合器；（</a:t>
            </a:r>
            <a:r>
              <a:rPr lang="en-US" altLang="zh-CN">
                <a:sym typeface="+mn-ea"/>
              </a:rPr>
              <a:t>4</a:t>
            </a:r>
            <a:r>
              <a:rPr lang="zh-CN" altLang="en-US">
                <a:sym typeface="+mn-ea"/>
              </a:rPr>
              <a:t>）将上述子系统聚合</a:t>
            </a:r>
            <a:endParaRPr lang="zh-CN" altLang="en-US"/>
          </a:p>
          <a:p>
            <a:r>
              <a:rPr lang="zh-CN" altLang="en-US">
                <a:sym typeface="+mn-ea"/>
              </a:rPr>
              <a:t>训练框架搭建：（</a:t>
            </a:r>
            <a:r>
              <a:rPr lang="en-US" altLang="zh-CN">
                <a:sym typeface="+mn-ea"/>
              </a:rPr>
              <a:t>1</a:t>
            </a:r>
            <a:r>
              <a:rPr lang="zh-CN" altLang="en-US">
                <a:sym typeface="+mn-ea"/>
              </a:rPr>
              <a:t>）多桶回放缓冲；（</a:t>
            </a:r>
            <a:r>
              <a:rPr lang="en-US" altLang="zh-CN">
                <a:sym typeface="+mn-ea"/>
              </a:rPr>
              <a:t>2</a:t>
            </a:r>
            <a:r>
              <a:rPr lang="zh-CN" altLang="en-US">
                <a:sym typeface="+mn-ea"/>
              </a:rPr>
              <a:t>）随机化训练；（</a:t>
            </a:r>
            <a:r>
              <a:rPr lang="en-US" altLang="zh-CN">
                <a:sym typeface="+mn-ea"/>
              </a:rPr>
              <a:t>3</a:t>
            </a:r>
            <a:r>
              <a:rPr lang="zh-CN" altLang="en-US">
                <a:sym typeface="+mn-ea"/>
              </a:rPr>
              <a:t>）</a:t>
            </a:r>
            <a:r>
              <a:rPr lang="en-US" altLang="zh-CN">
                <a:sym typeface="+mn-ea"/>
              </a:rPr>
              <a:t>ε-greedy</a:t>
            </a:r>
            <a:r>
              <a:rPr lang="zh-CN" altLang="en-US">
                <a:sym typeface="+mn-ea"/>
              </a:rPr>
              <a:t>探索；（</a:t>
            </a:r>
            <a:r>
              <a:rPr lang="en-US" altLang="zh-CN">
                <a:sym typeface="+mn-ea"/>
              </a:rPr>
              <a:t>4</a:t>
            </a:r>
            <a:r>
              <a:rPr lang="zh-CN" altLang="en-US">
                <a:sym typeface="+mn-ea"/>
              </a:rPr>
              <a:t>）整合上述训练搭建训练主循环</a:t>
            </a:r>
            <a:endParaRPr lang="zh-CN" altLang="en-US"/>
          </a:p>
          <a:p>
            <a:r>
              <a:rPr lang="zh-CN" altLang="en-US">
                <a:sym typeface="+mn-ea"/>
              </a:rPr>
              <a:t>复现三个评测实验</a:t>
            </a:r>
            <a:endParaRPr lang="zh-CN" altLang="en-US"/>
          </a:p>
          <a:p>
            <a:r>
              <a:rPr lang="zh-CN" altLang="en-US">
                <a:sym typeface="+mn-ea"/>
              </a:rPr>
              <a:t>搭建真实场景进行模拟</a:t>
            </a:r>
            <a:endParaRPr lang="zh-CN" altLang="en-US"/>
          </a:p>
          <a:p>
            <a:endParaRPr lang="zh-CN" altLang="en-US"/>
          </a:p>
        </p:txBody>
      </p:sp>
    </p:spTree>
    <p:custDataLst>
      <p:tags r:id="rId3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 altLang="zh-CN"/>
              <a:t>Research Stage II- combination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en-US" altLang="zh-CN"/>
              <a:t>I-SSO </a:t>
            </a:r>
            <a:r>
              <a:rPr lang="en-US" altLang="zh-CN">
                <a:sym typeface="+mn-ea"/>
              </a:rPr>
              <a:t>variance triggered escape+DIAS: potential of “marking interference source”</a:t>
            </a:r>
            <a:endParaRPr lang="en-US" altLang="zh-CN">
              <a:sym typeface="+mn-ea"/>
            </a:endParaRPr>
          </a:p>
          <a:p>
            <a:endParaRPr lang="en-US" altLang="zh-CN"/>
          </a:p>
          <a:p>
            <a:r>
              <a:rPr lang="en-US" altLang="zh-CN"/>
              <a:t>replacing MPC (in DIAS) with ADDRQN: combining RL and GP, lowering training cost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Voronoi division+ADDRQN: divide the task+ allowing UAV failure</a:t>
            </a:r>
            <a:endParaRPr lang="en-US" altLang="zh-CN"/>
          </a:p>
        </p:txBody>
      </p:sp>
    </p:spTree>
    <p:custDataLst>
      <p:tags r:id="rId3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 altLang="zh-CN"/>
              <a:t>Why These Three Algorithms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pPr marL="0" indent="0">
              <a:buNone/>
            </a:pPr>
            <a:r>
              <a:rPr lang="en-US" altLang="zh-CN" sz="1600"/>
              <a:t>Each of the three addresses one of the three main challenges, and together they cover all of them.</a:t>
            </a:r>
            <a:endParaRPr lang="en-US" altLang="zh-CN" sz="1600"/>
          </a:p>
          <a:p>
            <a:pPr marL="0" indent="0">
              <a:buNone/>
            </a:pPr>
            <a:endParaRPr lang="en-US" altLang="zh-CN" sz="1600"/>
          </a:p>
          <a:p>
            <a:r>
              <a:rPr lang="en-US" altLang="zh-CN" sz="1600"/>
              <a:t>I-SSO — avoidance of local optima: variance-triggered escape plus rotational exploration, already validated against an interference source in CFD.</a:t>
            </a:r>
            <a:endParaRPr lang="en-US" altLang="zh-CN" sz="1600"/>
          </a:p>
          <a:p>
            <a:r>
              <a:rPr lang="en-US" altLang="zh-CN" sz="1600"/>
              <a:t>DIAS — identification of individual sources: Voronoi division and Gaussian-process regression handle an unknown and potentially large number of sources.</a:t>
            </a:r>
            <a:endParaRPr lang="en-US" altLang="zh-CN" sz="1600"/>
          </a:p>
          <a:p>
            <a:r>
              <a:rPr lang="en-US" altLang="zh-CN" sz="1600"/>
              <a:t>ADDRQN — swarm cooperation: teammate encoding and recurrent state keep the policy robust under partial observation and UAV failure.</a:t>
            </a:r>
            <a:endParaRPr lang="en-US" altLang="zh-CN" sz="1600"/>
          </a:p>
          <a:p>
            <a:pPr marL="0" indent="0">
              <a:buNone/>
            </a:pPr>
            <a:endParaRPr lang="en-US" altLang="zh-CN" sz="1600"/>
          </a:p>
          <a:p>
            <a:pPr marL="0" indent="0">
              <a:buNone/>
            </a:pPr>
            <a:r>
              <a:rPr lang="en-US" altLang="zh-CN" sz="1600"/>
              <a:t>They are also compatible. All three operate on the same inputs (concentration measurements plus robot poses), and each contributes a different layer — exploration heuristic, source-density estimation, and learned control policy — which is what makes the Stage II combination feasible rather than redundant.</a:t>
            </a:r>
            <a:endParaRPr lang="en-US" altLang="zh-CN" sz="1600"/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7feb2884d6aaf62ab65305f9b32a7d258af57879"/>
  <p:tag name="KSO_WM_NEWLAYOUT_ID" val="slide_6d9c242c8c9b5533"/>
</p:tagLst>
</file>

<file path=ppt/tags/tag5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59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dk2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6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6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62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dk2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6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6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65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dk2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6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6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TYPE" val="l_h_a"/>
</p:tagLst>
</file>

<file path=ppt/tags/tag68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dk2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4_1"/>
  <p:tag name="KSO_WM_UNIT_TYPE" val="l_h_i"/>
</p:tagLst>
</file>

<file path=ppt/tags/tag6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TYPE" val="l_h_f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5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76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77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78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2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9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9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00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0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1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1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2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2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25.xml><?xml version="1.0" encoding="utf-8"?>
<p:tagLst xmlns:p="http://schemas.openxmlformats.org/presentationml/2006/main">
  <p:tag name="resource_record_key" val="{&quot;65&quot;:[20205081],&quot;71&quot;:[76235680075]}"/>
</p:tagLst>
</file>

<file path=ppt/theme/theme1.xml><?xml version="1.0" encoding="utf-8"?>
<a:theme xmlns:a="http://schemas.openxmlformats.org/drawingml/2006/main" name="1_WPS">
  <a:themeElements>
    <a:clrScheme name="">
      <a:dk1>
        <a:srgbClr val="000000"/>
      </a:dk1>
      <a:lt1>
        <a:srgbClr val="FFFFFF"/>
      </a:lt1>
      <a:dk2>
        <a:srgbClr val="1B2945"/>
      </a:dk2>
      <a:lt2>
        <a:srgbClr val="F1F4F9"/>
      </a:lt2>
      <a:accent1>
        <a:srgbClr val="BDCDE6"/>
      </a:accent1>
      <a:accent2>
        <a:srgbClr val="93ABD0"/>
      </a:accent2>
      <a:accent3>
        <a:srgbClr val="B397BF"/>
      </a:accent3>
      <a:accent4>
        <a:srgbClr val="D899B8"/>
      </a:accent4>
      <a:accent5>
        <a:srgbClr val="E59B91"/>
      </a:accent5>
      <a:accent6>
        <a:srgbClr val="DDD49C"/>
      </a:accent6>
      <a:hlink>
        <a:srgbClr val="5FCBFB"/>
      </a:hlink>
      <a:folHlink>
        <a:srgbClr val="B759BC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3281</Words>
  <Application>WPS 演示</Application>
  <PresentationFormat>宽屏</PresentationFormat>
  <Paragraphs>153</Paragraphs>
  <Slides>14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2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1_WPS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不甜薄荷叶</cp:lastModifiedBy>
  <cp:revision>166</cp:revision>
  <dcterms:created xsi:type="dcterms:W3CDTF">2019-06-19T02:08:00Z</dcterms:created>
  <dcterms:modified xsi:type="dcterms:W3CDTF">2026-07-20T09:26:35Z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81526C1A27C748EBB38F18453C4939AF_11</vt:lpwstr>
  </property>
</Properties>
</file>